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gs47gxe1xLD1nLh8I42lfwsZsZ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457200" y="1816442"/>
            <a:ext cx="8229600" cy="1124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</a:pPr>
            <a:r>
              <a:rPr lang="fr-FR" sz="4800">
                <a:solidFill>
                  <a:schemeClr val="accent1"/>
                </a:solidFill>
              </a:rPr>
              <a:t>SAÉ S1.05 – Recueil de besoins</a:t>
            </a:r>
            <a:endParaRPr sz="4800">
              <a:solidFill>
                <a:schemeClr val="accen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3719384" y="3719384"/>
            <a:ext cx="4967416" cy="24067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fr-FR"/>
              <a:t>IUT de Villetaneuse — Département Informatique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fr-FR"/>
              <a:t>Année universitaire 2025–2026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fr-FR"/>
              <a:t>Encadrante : Christèle Couleau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fr-FR"/>
              <a:t>Contact : chr.couleau@gmail.com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ct val="100000"/>
              <a:buFont typeface="Calibri"/>
              <a:buNone/>
            </a:pPr>
            <a:br>
              <a:rPr lang="fr-FR" sz="3600"/>
            </a:br>
            <a:r>
              <a:rPr lang="fr-FR" sz="3600"/>
              <a:t>Objectif de la SAÉ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345989" y="2211859"/>
            <a:ext cx="8798011" cy="3914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-FR" sz="2400"/>
              <a:t>Se familiariser avec la conduite de projet à partir d’un besoin client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-FR" sz="2400"/>
              <a:t>Comprendre et formaliser les attentes d’un client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-FR" sz="2400"/>
              <a:t>Apprendre à recueillir, analyser et synthétiser des besoins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-FR" sz="2400"/>
              <a:t>Produire des recommandations et actions adaptées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Calibri"/>
              <a:buNone/>
            </a:pPr>
            <a:r>
              <a:rPr lang="fr-FR"/>
              <a:t>Sujet 2025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549250" y="16462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fr-FR" sz="2400"/>
              <a:t>=&gt; Une </a:t>
            </a:r>
            <a:r>
              <a:rPr b="1" lang="fr-FR" sz="2400"/>
              <a:t>enquête </a:t>
            </a:r>
            <a:r>
              <a:rPr lang="fr-FR" sz="2400"/>
              <a:t>auprès des étudiant·e·s de l’IUT de Villetaneuse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fr-FR" sz="2400"/>
              <a:t>Objectif : </a:t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fr-FR" sz="2400"/>
              <a:t>Identifier les paramètres facilitant </a:t>
            </a:r>
            <a:r>
              <a:rPr b="1" lang="fr-FR" sz="2400"/>
              <a:t>la réussite des études en IUT</a:t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fr-FR" sz="2400"/>
              <a:t>Client : </a:t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fr-FR" sz="2400"/>
              <a:t>Le personnel enseignant de l’IUT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i="1" lang="fr-FR" sz="2400"/>
              <a:t>Minimum 2 entretiens par étudiant·e, dont 1 hors du département INFO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Calibri"/>
              <a:buNone/>
            </a:pPr>
            <a:r>
              <a:rPr lang="fr-FR"/>
              <a:t>Calendrier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-FR" sz="2400"/>
              <a:t>13/11/25 			Présentation de la SAÉ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-FR" sz="2400"/>
              <a:t>13/11 – 28/11 		Phase exploratoire individuelle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-FR" sz="2400"/>
              <a:t>28/11  				Livrable 1 (questionnaire individuel)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-FR" sz="2400"/>
              <a:t>28/11 – 04/01 		Travail collectif et entretiens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-FR" sz="2400"/>
              <a:t>05/01/26 			Livrable 2 (rapport collectif)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Calibri"/>
              <a:buNone/>
            </a:pPr>
            <a:r>
              <a:rPr lang="fr-FR" sz="3200">
                <a:solidFill>
                  <a:srgbClr val="003366"/>
                </a:solidFill>
              </a:rPr>
              <a:t>Livrable 1 : Questionnaire individuel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457199" y="1600200"/>
            <a:ext cx="8575589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b="1" lang="fr-FR" sz="2000"/>
              <a:t>Phase exploratoire </a:t>
            </a:r>
            <a:r>
              <a:rPr lang="fr-FR" sz="2000"/>
              <a:t>: observation + documentation (voir biblio)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fr-FR" sz="2000"/>
              <a:t>	=&gt; Formuler des hypothèses quant aux facteurs qui influencent la réussite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fr-FR" sz="2000"/>
              <a:t>Création d’un </a:t>
            </a:r>
            <a:r>
              <a:rPr b="1" lang="fr-FR" sz="2000"/>
              <a:t>questionnaire individuel </a:t>
            </a:r>
            <a:endParaRPr b="1"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b="1" lang="fr-FR" sz="2000"/>
              <a:t>	</a:t>
            </a:r>
            <a:r>
              <a:rPr lang="fr-FR" sz="2000"/>
              <a:t>=&gt; questions fermées et ouvertes)</a:t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fr-FR" sz="2000">
                <a:solidFill>
                  <a:srgbClr val="FF0000"/>
                </a:solidFill>
              </a:rPr>
              <a:t>Livrable 1 au format PDF sur Moodle avant le 28/11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Calibri"/>
              <a:buNone/>
            </a:pPr>
            <a:r>
              <a:rPr lang="fr-FR" sz="3200">
                <a:solidFill>
                  <a:srgbClr val="003366"/>
                </a:solidFill>
              </a:rPr>
              <a:t>Livrable 2 : Rapport collectif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fr-FR" sz="2000"/>
              <a:t>Équipe de 5 à 8 étudiant·e·s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fr-FR" sz="2000"/>
              <a:t>Conception d’un questionnaire collectif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fr-FR" sz="2000"/>
              <a:t>Réalisation d’entretiens avec des étudiant·e·s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fr-FR" sz="2000"/>
              <a:t>Synthèse du besoin (thématiques, graphiques)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fr-FR" sz="2000"/>
              <a:t>Propositions d’améliorations et études de persona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fr-FR" sz="2000"/>
              <a:t>Rapport final (~30 pages)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lang="fr-FR" sz="2000">
                <a:solidFill>
                  <a:srgbClr val="FF0000"/>
                </a:solidFill>
              </a:rPr>
              <a:t>Livrable 2 au format PDF sur Moodle avant le 5/01/26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Calibri"/>
              <a:buNone/>
            </a:pPr>
            <a:r>
              <a:rPr lang="fr-FR" sz="3200">
                <a:solidFill>
                  <a:srgbClr val="003366"/>
                </a:solidFill>
              </a:rPr>
              <a:t>Structure du rapport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1075038" y="1600200"/>
            <a:ext cx="7611761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fr-FR" sz="2400"/>
              <a:t>1. Tableau récapitulatif des personnes interrogées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fr-FR" sz="2400"/>
              <a:t>2. Synthèses individuelles des entretiens libres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fr-FR" sz="2400"/>
              <a:t>3. Synthèse globale des besoins (tableaux / graphiques)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fr-FR" sz="2400"/>
              <a:t>4. Propositions d’amélioration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fr-FR" sz="2400"/>
              <a:t>5. Personas (profils types)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fr-FR" sz="2400"/>
              <a:t>6. Conclusion : difficultés, bonnes pratiques, apprentissages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200"/>
              <a:buFont typeface="Calibri"/>
              <a:buNone/>
            </a:pPr>
            <a:r>
              <a:rPr lang="fr-FR" sz="3200">
                <a:solidFill>
                  <a:srgbClr val="003366"/>
                </a:solidFill>
              </a:rPr>
              <a:t>Groupes de TD et responsables</a:t>
            </a:r>
            <a:endParaRPr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-FR" sz="2400"/>
              <a:t>Cérès : Jean-Marie Duplaà — jmduplaa@gmail.com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-FR" sz="2400"/>
              <a:t>Mars : Boris Duboullay — duboullay@gmail.com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-FR" sz="2400"/>
              <a:t>Mercure : Barbara Ezélis — ezelis.barbara@gmail.com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fr-FR" sz="2400"/>
              <a:t>Vénus : Christèle Couleau — chr.couleau@gmail.com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